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 id="263" r:id="rId8"/>
    <p:sldId id="265" r:id="rId9"/>
    <p:sldId id="266" r:id="rId10"/>
    <p:sldId id="267" r:id="rId11"/>
    <p:sldId id="268" r:id="rId12"/>
    <p:sldId id="269" r:id="rId13"/>
    <p:sldId id="270" r:id="rId14"/>
    <p:sldId id="271"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00" autoAdjust="0"/>
    <p:restoredTop sz="94660"/>
  </p:normalViewPr>
  <p:slideViewPr>
    <p:cSldViewPr>
      <p:cViewPr varScale="1">
        <p:scale>
          <a:sx n="65" d="100"/>
          <a:sy n="65" d="100"/>
        </p:scale>
        <p:origin x="-690"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2018/9/3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1</a:t>
            </a:r>
            <a:r>
              <a:rPr lang="zh-CN" altLang="en-US" dirty="0" smtClean="0"/>
              <a:t>讲 初识 </a:t>
            </a:r>
            <a:r>
              <a:rPr lang="en-US" altLang="zh-CN" dirty="0" smtClean="0"/>
              <a:t>Visual C++ 2010</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a:t>
            </a:r>
            <a:r>
              <a:rPr lang="en-US" altLang="zh-CN" dirty="0" smtClean="0"/>
              <a:t>1</a:t>
            </a:r>
            <a:r>
              <a:rPr lang="zh-CN" altLang="en-US" dirty="0" smtClean="0"/>
              <a:t>讲 初识 </a:t>
            </a:r>
            <a:r>
              <a:rPr lang="en-US" altLang="zh-CN" dirty="0" smtClean="0"/>
              <a:t>Visual C++ 2010</a:t>
            </a:r>
            <a:endParaRPr lang="zh-CN" altLang="en-US" dirty="0"/>
          </a:p>
        </p:txBody>
      </p:sp>
      <p:sp>
        <p:nvSpPr>
          <p:cNvPr id="4" name="TextBox 3"/>
          <p:cNvSpPr txBox="1"/>
          <p:nvPr/>
        </p:nvSpPr>
        <p:spPr>
          <a:xfrm>
            <a:off x="714348" y="1714488"/>
            <a:ext cx="7661456" cy="1569660"/>
          </a:xfrm>
          <a:prstGeom prst="rect">
            <a:avLst/>
          </a:prstGeom>
          <a:noFill/>
        </p:spPr>
        <p:txBody>
          <a:bodyPr wrap="none" rtlCol="0">
            <a:spAutoFit/>
          </a:bodyPr>
          <a:lstStyle/>
          <a:p>
            <a:r>
              <a:rPr lang="en-US" altLang="zh-CN" sz="2400" dirty="0" smtClean="0"/>
              <a:t>1 </a:t>
            </a:r>
            <a:r>
              <a:rPr lang="zh-CN" altLang="en-US" sz="2400" dirty="0" smtClean="0"/>
              <a:t>学习</a:t>
            </a:r>
            <a:r>
              <a:rPr lang="en-US" altLang="zh-CN" sz="2400" dirty="0" smtClean="0"/>
              <a:t>visual studio, MSDN</a:t>
            </a:r>
            <a:r>
              <a:rPr lang="zh-CN" altLang="en-US" sz="2400" dirty="0" smtClean="0"/>
              <a:t>安装</a:t>
            </a:r>
            <a:endParaRPr lang="en-US" altLang="zh-CN" sz="2400" dirty="0" smtClean="0"/>
          </a:p>
          <a:p>
            <a:r>
              <a:rPr lang="en-US" altLang="zh-CN" sz="2400" dirty="0" smtClean="0"/>
              <a:t>2 </a:t>
            </a:r>
            <a:r>
              <a:rPr lang="zh-CN" altLang="en-US" sz="2400" dirty="0" smtClean="0"/>
              <a:t>初识</a:t>
            </a:r>
            <a:r>
              <a:rPr lang="en-US" altLang="zh-CN" sz="2400" dirty="0" smtClean="0"/>
              <a:t>VC</a:t>
            </a:r>
            <a:r>
              <a:rPr lang="zh-CN" altLang="en-US" sz="2400" dirty="0" smtClean="0"/>
              <a:t>编辑环境：新建、打开、关闭一个工程</a:t>
            </a:r>
            <a:r>
              <a:rPr lang="en-US" altLang="zh-CN" sz="2400" dirty="0" smtClean="0"/>
              <a:t>(Project)</a:t>
            </a:r>
          </a:p>
          <a:p>
            <a:r>
              <a:rPr lang="en-US" altLang="zh-CN" sz="2400" dirty="0" smtClean="0"/>
              <a:t>3 </a:t>
            </a:r>
            <a:r>
              <a:rPr lang="zh-CN" altLang="en-US" sz="2400" dirty="0" smtClean="0"/>
              <a:t>学习三种视图：</a:t>
            </a:r>
            <a:r>
              <a:rPr lang="en-US" altLang="zh-CN" sz="2400" dirty="0" err="1" smtClean="0"/>
              <a:t>Classview</a:t>
            </a:r>
            <a:r>
              <a:rPr lang="en-US" altLang="zh-CN" sz="2400" dirty="0" smtClean="0"/>
              <a:t>, </a:t>
            </a:r>
            <a:r>
              <a:rPr lang="en-US" altLang="zh-CN" sz="2400" dirty="0" err="1" smtClean="0"/>
              <a:t>ResourceView</a:t>
            </a:r>
            <a:r>
              <a:rPr lang="en-US" altLang="zh-CN" sz="2400" dirty="0" smtClean="0"/>
              <a:t>, </a:t>
            </a:r>
            <a:r>
              <a:rPr lang="en-US" altLang="zh-CN" sz="2400" dirty="0" err="1" smtClean="0"/>
              <a:t>FileView</a:t>
            </a:r>
            <a:endParaRPr lang="en-US" altLang="zh-CN" sz="2400" dirty="0" smtClean="0"/>
          </a:p>
          <a:p>
            <a:r>
              <a:rPr lang="en-US" altLang="zh-CN" sz="2400" dirty="0" smtClean="0"/>
              <a:t>                                     (</a:t>
            </a:r>
            <a:r>
              <a:rPr lang="en-US" altLang="zh-CN" sz="2400" dirty="0" err="1" smtClean="0"/>
              <a:t>SolutionView</a:t>
            </a:r>
            <a:r>
              <a:rPr lang="en-US" altLang="zh-CN" sz="2400" dirty="0" smtClean="0"/>
              <a:t>)</a:t>
            </a:r>
            <a:endParaRPr lang="zh-CN" altLang="en-US" sz="2400" dirty="0"/>
          </a:p>
        </p:txBody>
      </p:sp>
      <p:sp>
        <p:nvSpPr>
          <p:cNvPr id="5" name="TextBox 4"/>
          <p:cNvSpPr txBox="1"/>
          <p:nvPr/>
        </p:nvSpPr>
        <p:spPr>
          <a:xfrm>
            <a:off x="357158" y="4071942"/>
            <a:ext cx="8608639" cy="2123658"/>
          </a:xfrm>
          <a:prstGeom prst="rect">
            <a:avLst/>
          </a:prstGeom>
          <a:noFill/>
        </p:spPr>
        <p:txBody>
          <a:bodyPr wrap="none" rtlCol="0">
            <a:spAutoFit/>
          </a:bodyPr>
          <a:lstStyle/>
          <a:p>
            <a:r>
              <a:rPr lang="en-US" altLang="zh-CN" sz="2200" dirty="0" smtClean="0"/>
              <a:t>1 </a:t>
            </a:r>
            <a:r>
              <a:rPr lang="zh-CN" altLang="en-US" sz="2200" dirty="0" smtClean="0"/>
              <a:t>操作示例：</a:t>
            </a:r>
            <a:r>
              <a:rPr lang="en-US" altLang="zh-CN" sz="2200" dirty="0" smtClean="0"/>
              <a:t>Console application, Windows application, MFC  </a:t>
            </a:r>
            <a:r>
              <a:rPr lang="en-US" altLang="zh-CN" sz="2200" dirty="0" err="1" smtClean="0"/>
              <a:t>applicatoin</a:t>
            </a:r>
            <a:endParaRPr lang="en-US" altLang="zh-CN" sz="2200" dirty="0" smtClean="0"/>
          </a:p>
          <a:p>
            <a:r>
              <a:rPr lang="en-US" altLang="zh-CN" sz="2200" dirty="0" smtClean="0"/>
              <a:t>2 </a:t>
            </a:r>
            <a:r>
              <a:rPr lang="zh-CN" altLang="en-US" sz="2200" dirty="0" smtClean="0"/>
              <a:t>变量输入输出函数 </a:t>
            </a:r>
            <a:r>
              <a:rPr lang="en-US" altLang="zh-CN" sz="2200" dirty="0" err="1" smtClean="0"/>
              <a:t>cin</a:t>
            </a:r>
            <a:r>
              <a:rPr lang="en-US" altLang="zh-CN" sz="2200" dirty="0" smtClean="0"/>
              <a:t>, </a:t>
            </a:r>
            <a:r>
              <a:rPr lang="en-US" altLang="zh-CN" sz="2200" dirty="0" err="1" smtClean="0"/>
              <a:t>cout</a:t>
            </a:r>
            <a:r>
              <a:rPr lang="zh-CN" altLang="en-US" sz="2200" dirty="0" smtClean="0"/>
              <a:t>用法，添加如下语句：</a:t>
            </a:r>
            <a:endParaRPr lang="en-US" altLang="zh-CN" sz="2200" dirty="0" smtClean="0"/>
          </a:p>
          <a:p>
            <a:endParaRPr lang="en-US" altLang="zh-CN" sz="2200" dirty="0" smtClean="0"/>
          </a:p>
          <a:p>
            <a:r>
              <a:rPr lang="en-US" altLang="zh-CN" sz="2200" dirty="0" smtClean="0"/>
              <a:t>   </a:t>
            </a:r>
          </a:p>
          <a:p>
            <a:r>
              <a:rPr lang="en-US" altLang="zh-CN" sz="2200" dirty="0" smtClean="0"/>
              <a:t>    </a:t>
            </a:r>
          </a:p>
          <a:p>
            <a:r>
              <a:rPr lang="en-US" altLang="zh-CN" sz="2200" dirty="0" smtClean="0"/>
              <a:t>3  </a:t>
            </a:r>
            <a:r>
              <a:rPr lang="zh-CN" altLang="en-US" sz="2200" dirty="0" smtClean="0"/>
              <a:t>程序的调试，断点设置、变量追踪</a:t>
            </a:r>
            <a:endParaRPr lang="zh-CN" altLang="en-US" sz="2200" dirty="0"/>
          </a:p>
        </p:txBody>
      </p:sp>
      <p:pic>
        <p:nvPicPr>
          <p:cNvPr id="1026" name="Picture 2"/>
          <p:cNvPicPr>
            <a:picLocks noChangeAspect="1" noChangeArrowheads="1"/>
          </p:cNvPicPr>
          <p:nvPr/>
        </p:nvPicPr>
        <p:blipFill>
          <a:blip r:embed="rId2"/>
          <a:srcRect/>
          <a:stretch>
            <a:fillRect/>
          </a:stretch>
        </p:blipFill>
        <p:spPr bwMode="auto">
          <a:xfrm>
            <a:off x="857224" y="4857760"/>
            <a:ext cx="2389528" cy="785818"/>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Namespace</a:t>
            </a:r>
            <a:r>
              <a:rPr lang="zh-CN" altLang="en-US" dirty="0" smtClean="0"/>
              <a:t>解释</a:t>
            </a:r>
            <a:endParaRPr lang="zh-CN" altLang="en-US" dirty="0"/>
          </a:p>
        </p:txBody>
      </p:sp>
      <p:sp>
        <p:nvSpPr>
          <p:cNvPr id="3" name="内容占位符 2"/>
          <p:cNvSpPr>
            <a:spLocks noGrp="1"/>
          </p:cNvSpPr>
          <p:nvPr>
            <p:ph idx="1"/>
          </p:nvPr>
        </p:nvSpPr>
        <p:spPr/>
        <p:txBody>
          <a:bodyPr>
            <a:normAutofit fontScale="92500"/>
          </a:bodyPr>
          <a:lstStyle/>
          <a:p>
            <a:r>
              <a:rPr lang="en-US" altLang="zh-CN" dirty="0" smtClean="0"/>
              <a:t>Namespace:</a:t>
            </a:r>
            <a:r>
              <a:rPr lang="zh-CN" altLang="en-US" dirty="0" smtClean="0"/>
              <a:t>名字空间</a:t>
            </a:r>
            <a:endParaRPr lang="en-US" altLang="zh-CN" dirty="0" smtClean="0"/>
          </a:p>
          <a:p>
            <a:r>
              <a:rPr lang="zh-CN" altLang="en-US" dirty="0" smtClean="0">
                <a:solidFill>
                  <a:srgbClr val="FF0000"/>
                </a:solidFill>
              </a:rPr>
              <a:t>作用</a:t>
            </a:r>
            <a:r>
              <a:rPr lang="zh-CN" altLang="en-US" dirty="0" smtClean="0"/>
              <a:t>：由于现在的程序的规模越来越大，程序的分工越来越细，全局作用域变得越来越拥挤，每个人都可能使用相同的名字来实现不同的库，于是程序员在合并程序的时候就会可能出现名字的冲突。</a:t>
            </a:r>
            <a:r>
              <a:rPr lang="en-US" altLang="zh-CN" dirty="0" smtClean="0"/>
              <a:t>namespace</a:t>
            </a:r>
            <a:r>
              <a:rPr lang="zh-CN" altLang="en-US" dirty="0" smtClean="0"/>
              <a:t>引入了复杂性，解决了这个问题。</a:t>
            </a:r>
            <a:r>
              <a:rPr lang="en-US" altLang="zh-CN" dirty="0" smtClean="0"/>
              <a:t>namespace</a:t>
            </a:r>
            <a:r>
              <a:rPr lang="zh-CN" altLang="en-US" dirty="0" smtClean="0"/>
              <a:t>允许像类，对象，函数聚集在一个名字下。本质上讲</a:t>
            </a:r>
            <a:r>
              <a:rPr lang="en-US" altLang="zh-CN" dirty="0" smtClean="0">
                <a:solidFill>
                  <a:srgbClr val="FF0000"/>
                </a:solidFill>
              </a:rPr>
              <a:t>namespace</a:t>
            </a:r>
            <a:r>
              <a:rPr lang="zh-CN" altLang="en-US" dirty="0" smtClean="0">
                <a:solidFill>
                  <a:srgbClr val="FF0000"/>
                </a:solidFill>
              </a:rPr>
              <a:t>是对全局作用域的细分。</a:t>
            </a:r>
            <a:endParaRPr lang="zh-CN" altLang="en-US"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Stdio</a:t>
            </a:r>
            <a:r>
              <a:rPr lang="zh-CN" altLang="en-US" dirty="0" smtClean="0"/>
              <a:t>与</a:t>
            </a:r>
            <a:r>
              <a:rPr lang="en-US" altLang="zh-CN" dirty="0" err="1" smtClean="0"/>
              <a:t>iostream</a:t>
            </a:r>
            <a:r>
              <a:rPr lang="zh-CN" altLang="en-US" dirty="0" smtClean="0"/>
              <a:t>区别</a:t>
            </a:r>
            <a:endParaRPr lang="zh-CN" altLang="en-US" dirty="0"/>
          </a:p>
        </p:txBody>
      </p:sp>
      <p:sp>
        <p:nvSpPr>
          <p:cNvPr id="3" name="内容占位符 2"/>
          <p:cNvSpPr>
            <a:spLocks noGrp="1"/>
          </p:cNvSpPr>
          <p:nvPr>
            <p:ph idx="1"/>
          </p:nvPr>
        </p:nvSpPr>
        <p:spPr/>
        <p:txBody>
          <a:bodyPr/>
          <a:lstStyle/>
          <a:p>
            <a:r>
              <a:rPr lang="en-US" altLang="zh-CN" dirty="0" err="1" smtClean="0"/>
              <a:t>Stdio.h</a:t>
            </a:r>
            <a:r>
              <a:rPr lang="zh-CN" altLang="en-US" dirty="0" smtClean="0"/>
              <a:t>是</a:t>
            </a:r>
            <a:r>
              <a:rPr lang="en-US" altLang="zh-CN" dirty="0" smtClean="0"/>
              <a:t>C</a:t>
            </a:r>
            <a:r>
              <a:rPr lang="zh-CN" altLang="en-US" dirty="0" smtClean="0"/>
              <a:t>语言的</a:t>
            </a:r>
            <a:r>
              <a:rPr lang="en-US" altLang="zh-CN" dirty="0" smtClean="0"/>
              <a:t>IO</a:t>
            </a:r>
            <a:r>
              <a:rPr lang="zh-CN" altLang="en-US" dirty="0" smtClean="0"/>
              <a:t>操作；</a:t>
            </a:r>
            <a:endParaRPr lang="en-US" altLang="zh-CN" dirty="0" smtClean="0"/>
          </a:p>
          <a:p>
            <a:r>
              <a:rPr lang="en-US" altLang="zh-CN" dirty="0" err="1" smtClean="0"/>
              <a:t>Iostream</a:t>
            </a:r>
            <a:r>
              <a:rPr lang="zh-CN" altLang="en-US" dirty="0" smtClean="0"/>
              <a:t>是</a:t>
            </a:r>
            <a:r>
              <a:rPr lang="en-US" altLang="zh-CN" dirty="0" smtClean="0"/>
              <a:t>C++</a:t>
            </a:r>
            <a:r>
              <a:rPr lang="zh-CN" altLang="en-US" dirty="0" smtClean="0"/>
              <a:t>的</a:t>
            </a:r>
            <a:r>
              <a:rPr lang="en-US" altLang="zh-CN" dirty="0" smtClean="0"/>
              <a:t>IO</a:t>
            </a:r>
            <a:r>
              <a:rPr lang="zh-CN" altLang="en-US" dirty="0" smtClean="0"/>
              <a:t>操作；</a:t>
            </a:r>
            <a:endParaRPr lang="en-US" altLang="zh-CN" dirty="0" smtClean="0"/>
          </a:p>
          <a:p>
            <a:r>
              <a:rPr lang="en-US" altLang="zh-CN" dirty="0" smtClean="0"/>
              <a:t>C++</a:t>
            </a:r>
            <a:r>
              <a:rPr lang="zh-CN" altLang="en-US" dirty="0" smtClean="0"/>
              <a:t>中尽管保留了</a:t>
            </a:r>
            <a:r>
              <a:rPr lang="en-US" altLang="zh-CN" dirty="0" err="1" smtClean="0"/>
              <a:t>stdio</a:t>
            </a:r>
            <a:r>
              <a:rPr lang="en-US" altLang="zh-CN" dirty="0" smtClean="0"/>
              <a:t>,</a:t>
            </a:r>
            <a:r>
              <a:rPr lang="zh-CN" altLang="en-US" dirty="0" smtClean="0"/>
              <a:t>是为了兼容</a:t>
            </a:r>
            <a:r>
              <a:rPr lang="en-US" altLang="zh-CN" dirty="0" smtClean="0"/>
              <a:t>C</a:t>
            </a:r>
            <a:r>
              <a:rPr lang="zh-CN" altLang="en-US" dirty="0" smtClean="0"/>
              <a:t>，推荐使用的仍是</a:t>
            </a:r>
            <a:r>
              <a:rPr lang="en-US" altLang="zh-CN" dirty="0" err="1" smtClean="0"/>
              <a:t>iostream</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iostream</a:t>
            </a:r>
            <a:r>
              <a:rPr lang="zh-CN" altLang="en-US" dirty="0" smtClean="0"/>
              <a:t>与</a:t>
            </a:r>
            <a:r>
              <a:rPr lang="en-US" altLang="zh-CN" dirty="0" err="1" smtClean="0"/>
              <a:t>iostream.h</a:t>
            </a:r>
            <a:r>
              <a:rPr lang="zh-CN" altLang="en-US" dirty="0" smtClean="0"/>
              <a:t>区别</a:t>
            </a:r>
            <a:endParaRPr lang="zh-CN" altLang="en-US" dirty="0"/>
          </a:p>
        </p:txBody>
      </p:sp>
      <p:sp>
        <p:nvSpPr>
          <p:cNvPr id="3" name="内容占位符 2"/>
          <p:cNvSpPr>
            <a:spLocks noGrp="1"/>
          </p:cNvSpPr>
          <p:nvPr>
            <p:ph idx="1"/>
          </p:nvPr>
        </p:nvSpPr>
        <p:spPr/>
        <p:txBody>
          <a:bodyPr/>
          <a:lstStyle/>
          <a:p>
            <a:r>
              <a:rPr lang="en-US" altLang="zh-CN" dirty="0" smtClean="0"/>
              <a:t>&lt;</a:t>
            </a:r>
            <a:r>
              <a:rPr lang="en-US" altLang="zh-CN" dirty="0" err="1" smtClean="0"/>
              <a:t>iostream.h</a:t>
            </a:r>
            <a:r>
              <a:rPr lang="en-US" altLang="zh-CN" dirty="0" smtClean="0"/>
              <a:t>&gt;</a:t>
            </a:r>
            <a:r>
              <a:rPr lang="zh-CN" altLang="en-US" dirty="0" smtClean="0"/>
              <a:t>继承</a:t>
            </a:r>
            <a:r>
              <a:rPr lang="en-US" altLang="zh-CN" dirty="0" smtClean="0"/>
              <a:t>C</a:t>
            </a:r>
            <a:r>
              <a:rPr lang="zh-CN" altLang="en-US" dirty="0" smtClean="0"/>
              <a:t>语言的标准库文件，未引入名字空间定义，所以可直接使用。</a:t>
            </a:r>
            <a:endParaRPr lang="en-US" altLang="zh-CN" dirty="0" smtClean="0"/>
          </a:p>
          <a:p>
            <a:r>
              <a:rPr lang="zh-CN" altLang="en-US" dirty="0" smtClean="0"/>
              <a:t>当代码中引入</a:t>
            </a:r>
            <a:r>
              <a:rPr lang="en-US" altLang="zh-CN" dirty="0" smtClean="0"/>
              <a:t>&lt;</a:t>
            </a:r>
            <a:r>
              <a:rPr lang="en-US" dirty="0" err="1" smtClean="0"/>
              <a:t>iostream</a:t>
            </a:r>
            <a:r>
              <a:rPr lang="en-US" dirty="0" smtClean="0"/>
              <a:t>&gt;</a:t>
            </a:r>
            <a:r>
              <a:rPr lang="zh-CN" altLang="en-US" dirty="0" smtClean="0"/>
              <a:t>时，输出需要引用</a:t>
            </a:r>
            <a:r>
              <a:rPr lang="en-US" dirty="0" smtClean="0"/>
              <a:t>std::</a:t>
            </a:r>
            <a:r>
              <a:rPr lang="en-US" dirty="0" err="1" smtClean="0"/>
              <a:t>cout</a:t>
            </a:r>
            <a:r>
              <a:rPr lang="en-US" dirty="0" smtClean="0"/>
              <a:t>&lt;&lt;x; </a:t>
            </a:r>
            <a:r>
              <a:rPr lang="zh-CN" altLang="en-US" dirty="0" smtClean="0"/>
              <a:t>使用方法如下：</a:t>
            </a:r>
            <a:endParaRPr lang="en-US" altLang="zh-CN" dirty="0" smtClean="0"/>
          </a:p>
          <a:p>
            <a:pPr>
              <a:buNone/>
            </a:pPr>
            <a:r>
              <a:rPr lang="en-US" altLang="zh-CN" dirty="0" smtClean="0"/>
              <a:t>  (1)     </a:t>
            </a:r>
            <a:r>
              <a:rPr lang="en-US" dirty="0" smtClean="0"/>
              <a:t>using namespace std;        </a:t>
            </a:r>
            <a:r>
              <a:rPr lang="en-US" dirty="0" err="1" smtClean="0"/>
              <a:t>cout</a:t>
            </a:r>
            <a:r>
              <a:rPr lang="en-US" dirty="0" smtClean="0"/>
              <a:t>&lt;&lt;x;</a:t>
            </a:r>
          </a:p>
          <a:p>
            <a:pPr>
              <a:buNone/>
            </a:pPr>
            <a:r>
              <a:rPr lang="en-US" altLang="zh-CN" dirty="0" smtClean="0"/>
              <a:t>  (2)     </a:t>
            </a:r>
            <a:r>
              <a:rPr lang="en-US" dirty="0" smtClean="0"/>
              <a:t>using std::</a:t>
            </a:r>
            <a:r>
              <a:rPr lang="en-US" dirty="0" err="1" smtClean="0"/>
              <a:t>cout</a:t>
            </a:r>
            <a:r>
              <a:rPr lang="en-US" dirty="0" smtClean="0"/>
              <a:t>;        </a:t>
            </a:r>
            <a:r>
              <a:rPr lang="en-US" dirty="0" err="1" smtClean="0"/>
              <a:t>cout</a:t>
            </a:r>
            <a:r>
              <a:rPr lang="en-US" dirty="0" smtClean="0"/>
              <a:t>&lt;&lt;x;</a:t>
            </a:r>
          </a:p>
          <a:p>
            <a:pPr>
              <a:buNone/>
            </a:pPr>
            <a:r>
              <a:rPr lang="en-US" altLang="zh-CN" dirty="0" smtClean="0"/>
              <a:t>  (3)     </a:t>
            </a:r>
            <a:r>
              <a:rPr lang="en-US" dirty="0" smtClean="0"/>
              <a:t>std::</a:t>
            </a:r>
            <a:r>
              <a:rPr lang="en-US" dirty="0" err="1" smtClean="0"/>
              <a:t>cout</a:t>
            </a:r>
            <a:r>
              <a:rPr lang="en-US" dirty="0" smtClean="0"/>
              <a:t>&lt;&lt;x;</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r>
              <a:rPr lang="en-US" altLang="zh-CN" dirty="0" smtClean="0"/>
              <a:t>C++</a:t>
            </a:r>
            <a:r>
              <a:rPr lang="zh-CN" altLang="en-US" dirty="0" smtClean="0"/>
              <a:t>中常见的文件格式</a:t>
            </a:r>
            <a:endParaRPr lang="zh-CN" altLang="en-US" dirty="0"/>
          </a:p>
        </p:txBody>
      </p:sp>
      <p:sp>
        <p:nvSpPr>
          <p:cNvPr id="3" name="内容占位符 2"/>
          <p:cNvSpPr>
            <a:spLocks noGrp="1"/>
          </p:cNvSpPr>
          <p:nvPr>
            <p:ph idx="1"/>
          </p:nvPr>
        </p:nvSpPr>
        <p:spPr/>
        <p:txBody>
          <a:bodyPr/>
          <a:lstStyle/>
          <a:p>
            <a:r>
              <a:rPr lang="en-US" altLang="zh-CN" b="1" dirty="0" smtClean="0"/>
              <a:t>.</a:t>
            </a:r>
            <a:r>
              <a:rPr lang="en-US" altLang="zh-CN" b="1" dirty="0" err="1" smtClean="0"/>
              <a:t>sln</a:t>
            </a:r>
            <a:endParaRPr lang="en-US" altLang="zh-CN" sz="2400" dirty="0" smtClean="0"/>
          </a:p>
          <a:p>
            <a:r>
              <a:rPr lang="en-US" altLang="zh-CN" sz="2400" dirty="0" smtClean="0"/>
              <a:t>.</a:t>
            </a:r>
            <a:r>
              <a:rPr lang="en-US" altLang="zh-CN" sz="2400" dirty="0" err="1" smtClean="0"/>
              <a:t>cpp</a:t>
            </a:r>
            <a:endParaRPr lang="en-US" altLang="zh-CN" sz="2400" dirty="0" smtClean="0"/>
          </a:p>
          <a:p>
            <a:r>
              <a:rPr lang="en-US" altLang="zh-CN" sz="2400" dirty="0" smtClean="0"/>
              <a:t>.h</a:t>
            </a:r>
          </a:p>
          <a:p>
            <a:r>
              <a:rPr lang="en-US" altLang="zh-CN" sz="2400" dirty="0" smtClean="0"/>
              <a:t>.</a:t>
            </a:r>
            <a:r>
              <a:rPr lang="en-US" altLang="zh-CN" sz="2400" dirty="0" err="1" smtClean="0"/>
              <a:t>rc</a:t>
            </a:r>
            <a:endParaRPr lang="en-US" altLang="zh-CN" sz="2400" dirty="0" smtClean="0"/>
          </a:p>
          <a:p>
            <a:r>
              <a:rPr lang="en-US" altLang="zh-CN" sz="2400" dirty="0" smtClean="0"/>
              <a:t>Debug, release</a:t>
            </a:r>
            <a:r>
              <a:rPr lang="zh-CN" altLang="en-US" sz="2400" dirty="0" smtClean="0"/>
              <a:t>区别</a:t>
            </a:r>
            <a:endParaRPr lang="en-US" altLang="zh-CN" sz="2400" dirty="0" smtClean="0"/>
          </a:p>
          <a:p>
            <a:endParaRPr lang="en-US" altLang="zh-CN" sz="2400" dirty="0" smtClean="0"/>
          </a:p>
          <a:p>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CALLBACK</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smtClean="0"/>
              <a:t>回调函数</a:t>
            </a:r>
            <a:r>
              <a:rPr lang="en-US" altLang="zh-CN" dirty="0" smtClean="0"/>
              <a:t>(Callback function)</a:t>
            </a:r>
            <a:r>
              <a:rPr lang="zh-CN" altLang="en-US" dirty="0" smtClean="0"/>
              <a:t>大量用于</a:t>
            </a:r>
            <a:r>
              <a:rPr lang="en-US" altLang="zh-CN" dirty="0" smtClean="0"/>
              <a:t>Windows</a:t>
            </a:r>
            <a:r>
              <a:rPr lang="zh-CN" altLang="en-US" dirty="0" smtClean="0"/>
              <a:t>的系统服务，通过它，程序员可以安装设备驱动程序和消息过滤系统，以控制</a:t>
            </a:r>
            <a:r>
              <a:rPr lang="en-US" altLang="zh-CN" dirty="0" smtClean="0"/>
              <a:t>Windows</a:t>
            </a:r>
            <a:r>
              <a:rPr lang="zh-CN" altLang="en-US" dirty="0" smtClean="0"/>
              <a:t>的有效使用。</a:t>
            </a:r>
            <a:endParaRPr lang="en-US" altLang="zh-CN" dirty="0" smtClean="0"/>
          </a:p>
          <a:p>
            <a:r>
              <a:rPr lang="zh-CN" altLang="en-US" dirty="0" smtClean="0"/>
              <a:t>许多程序员都发现，利用</a:t>
            </a:r>
            <a:r>
              <a:rPr lang="en-US" altLang="zh-CN" dirty="0" smtClean="0"/>
              <a:t>MFC</a:t>
            </a:r>
            <a:r>
              <a:rPr lang="zh-CN" altLang="en-US" dirty="0" smtClean="0"/>
              <a:t>或者其它的</a:t>
            </a:r>
            <a:r>
              <a:rPr lang="en-US" altLang="zh-CN" dirty="0" smtClean="0"/>
              <a:t>C++</a:t>
            </a:r>
            <a:r>
              <a:rPr lang="zh-CN" altLang="en-US" dirty="0" smtClean="0"/>
              <a:t>应用编写回调函数是非常麻烦的，其根本原因是回调函数是基于</a:t>
            </a:r>
            <a:r>
              <a:rPr lang="en-US" altLang="zh-CN" dirty="0" smtClean="0"/>
              <a:t>C</a:t>
            </a:r>
            <a:r>
              <a:rPr lang="zh-CN" altLang="en-US" dirty="0" smtClean="0"/>
              <a:t>编程的</a:t>
            </a:r>
            <a:r>
              <a:rPr lang="en-US" altLang="zh-CN" dirty="0" smtClean="0"/>
              <a:t>Windows SDK</a:t>
            </a:r>
            <a:r>
              <a:rPr lang="zh-CN" altLang="en-US" dirty="0" smtClean="0"/>
              <a:t>的技术，不是针对</a:t>
            </a:r>
            <a:r>
              <a:rPr lang="en-US" altLang="zh-CN" dirty="0" smtClean="0"/>
              <a:t>C++</a:t>
            </a:r>
            <a:r>
              <a:rPr lang="zh-CN" altLang="en-US" dirty="0" smtClean="0"/>
              <a:t>的，程序员可以将一个</a:t>
            </a:r>
            <a:r>
              <a:rPr lang="en-US" altLang="zh-CN" dirty="0" smtClean="0"/>
              <a:t>C</a:t>
            </a:r>
            <a:r>
              <a:rPr lang="zh-CN" altLang="en-US" dirty="0" smtClean="0"/>
              <a:t>函数直接作为回调函数，但是如果试图直接使用</a:t>
            </a:r>
            <a:r>
              <a:rPr lang="en-US" altLang="zh-CN" dirty="0" smtClean="0"/>
              <a:t>C++</a:t>
            </a:r>
            <a:r>
              <a:rPr lang="zh-CN" altLang="en-US" dirty="0" smtClean="0"/>
              <a:t>的成员函数作为回调函数将发生错误，甚至编译就不能通过。通过查询资料发现，其错误是普通的</a:t>
            </a:r>
            <a:r>
              <a:rPr lang="en-US" altLang="zh-CN" dirty="0" smtClean="0"/>
              <a:t>C++</a:t>
            </a:r>
            <a:r>
              <a:rPr lang="zh-CN" altLang="en-US" dirty="0" smtClean="0"/>
              <a:t>成员函数都隐含了一个传递函数作为参数，亦即</a:t>
            </a:r>
            <a:r>
              <a:rPr lang="zh-CN" altLang="en-US" dirty="0" smtClean="0">
                <a:solidFill>
                  <a:srgbClr val="FF0000"/>
                </a:solidFill>
              </a:rPr>
              <a:t>“</a:t>
            </a:r>
            <a:r>
              <a:rPr lang="en-US" altLang="zh-CN" dirty="0" smtClean="0">
                <a:solidFill>
                  <a:srgbClr val="FF0000"/>
                </a:solidFill>
              </a:rPr>
              <a:t>this”</a:t>
            </a:r>
            <a:r>
              <a:rPr lang="zh-CN" altLang="en-US" dirty="0" smtClean="0">
                <a:solidFill>
                  <a:srgbClr val="FF0000"/>
                </a:solidFill>
              </a:rPr>
              <a:t>指针</a:t>
            </a:r>
            <a:r>
              <a:rPr lang="zh-CN" altLang="en-US" dirty="0" smtClean="0"/>
              <a:t>，</a:t>
            </a:r>
            <a:r>
              <a:rPr lang="en-US" altLang="zh-CN" dirty="0" smtClean="0"/>
              <a:t>C++</a:t>
            </a:r>
            <a:r>
              <a:rPr lang="zh-CN" altLang="en-US" dirty="0" smtClean="0"/>
              <a:t>通过传递一个指向自身的指针给其成员函数从而实现程序函数可以访问</a:t>
            </a:r>
            <a:r>
              <a:rPr lang="en-US" altLang="zh-CN" dirty="0" smtClean="0"/>
              <a:t>C++</a:t>
            </a:r>
            <a:r>
              <a:rPr lang="zh-CN" altLang="en-US" dirty="0" smtClean="0"/>
              <a:t>的数据成员。这也可以理解为什么</a:t>
            </a:r>
            <a:r>
              <a:rPr lang="en-US" altLang="zh-CN" dirty="0" smtClean="0"/>
              <a:t>C++</a:t>
            </a:r>
            <a:r>
              <a:rPr lang="zh-CN" altLang="en-US" dirty="0" smtClean="0"/>
              <a:t>类的多个实例可以共享成员函数但是确有不同的数据成员。</a:t>
            </a:r>
            <a:endParaRPr lang="en-US" altLang="zh-CN" dirty="0" smtClean="0"/>
          </a:p>
          <a:p>
            <a:r>
              <a:rPr lang="zh-CN" altLang="en-US" dirty="0" smtClean="0"/>
              <a:t>由于</a:t>
            </a:r>
            <a:r>
              <a:rPr lang="en-US" altLang="zh-CN" dirty="0" smtClean="0"/>
              <a:t>this</a:t>
            </a:r>
            <a:r>
              <a:rPr lang="zh-CN" altLang="en-US" dirty="0" smtClean="0"/>
              <a:t>指针的作用，使得将一个</a:t>
            </a:r>
            <a:r>
              <a:rPr lang="en-US" altLang="zh-CN" dirty="0" smtClean="0"/>
              <a:t>CALLBACK</a:t>
            </a:r>
            <a:r>
              <a:rPr lang="zh-CN" altLang="en-US" dirty="0" smtClean="0"/>
              <a:t>型的成员函数作为回调函数安装时就会因为隐含的</a:t>
            </a:r>
            <a:r>
              <a:rPr lang="en-US" altLang="zh-CN" dirty="0" smtClean="0"/>
              <a:t>this</a:t>
            </a:r>
            <a:r>
              <a:rPr lang="zh-CN" altLang="en-US" dirty="0" smtClean="0"/>
              <a:t>指针使得函数参数个数不匹配，从而导致回调函数安装失败。要解决这一问题的关键就是不让</a:t>
            </a:r>
            <a:r>
              <a:rPr lang="en-US" altLang="zh-CN" dirty="0" smtClean="0"/>
              <a:t>this</a:t>
            </a:r>
            <a:r>
              <a:rPr lang="zh-CN" altLang="en-US" dirty="0" smtClean="0"/>
              <a:t>指针起作用，通过采用以下两种典型技术可以解决在</a:t>
            </a:r>
            <a:r>
              <a:rPr lang="en-US" altLang="zh-CN" dirty="0" smtClean="0"/>
              <a:t>C++</a:t>
            </a:r>
            <a:r>
              <a:rPr lang="zh-CN" altLang="en-US" dirty="0" smtClean="0"/>
              <a:t>中使用回调函数所遇到的问题。这种方法具有通用性，适合于任何</a:t>
            </a:r>
            <a:r>
              <a:rPr lang="en-US" altLang="zh-CN" dirty="0" smtClean="0"/>
              <a:t>C++</a:t>
            </a:r>
            <a:r>
              <a:rPr lang="zh-CN" altLang="en-US" dirty="0" smtClean="0"/>
              <a:t>。</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60388" y="115888"/>
            <a:ext cx="7467600" cy="762000"/>
          </a:xfrm>
        </p:spPr>
        <p:txBody>
          <a:bodyPr/>
          <a:lstStyle/>
          <a:p>
            <a:r>
              <a:rPr lang="en-US" altLang="zh-CN"/>
              <a:t>1.1 </a:t>
            </a:r>
            <a:r>
              <a:rPr lang="zh-CN" altLang="en-US"/>
              <a:t>面向对象的基本概念</a:t>
            </a:r>
            <a:r>
              <a:rPr lang="en-US" altLang="zh-CN">
                <a:latin typeface="楷体_GB2312" pitchFamily="49" charset="-122"/>
              </a:rPr>
              <a:t>(1)</a:t>
            </a:r>
          </a:p>
        </p:txBody>
      </p:sp>
      <p:sp>
        <p:nvSpPr>
          <p:cNvPr id="13315" name="Rectangle 3"/>
          <p:cNvSpPr>
            <a:spLocks noGrp="1" noChangeArrowheads="1"/>
          </p:cNvSpPr>
          <p:nvPr>
            <p:ph type="body" idx="1"/>
          </p:nvPr>
        </p:nvSpPr>
        <p:spPr>
          <a:xfrm>
            <a:off x="341313" y="1125538"/>
            <a:ext cx="7975600" cy="5543550"/>
          </a:xfrm>
        </p:spPr>
        <p:txBody>
          <a:bodyPr/>
          <a:lstStyle/>
          <a:p>
            <a:pPr>
              <a:lnSpc>
                <a:spcPct val="80000"/>
              </a:lnSpc>
            </a:pPr>
            <a:r>
              <a:rPr lang="zh-CN" altLang="en-US" sz="2800" dirty="0">
                <a:solidFill>
                  <a:srgbClr val="0000FF"/>
                </a:solidFill>
              </a:rPr>
              <a:t>问题域（</a:t>
            </a:r>
            <a:r>
              <a:rPr lang="en-US" altLang="zh-CN" sz="2800" dirty="0">
                <a:solidFill>
                  <a:srgbClr val="0000FF"/>
                </a:solidFill>
              </a:rPr>
              <a:t>problem domain</a:t>
            </a:r>
            <a:r>
              <a:rPr lang="zh-CN" altLang="en-US" sz="2800" dirty="0">
                <a:solidFill>
                  <a:srgbClr val="0000FF"/>
                </a:solidFill>
              </a:rPr>
              <a:t>）：</a:t>
            </a:r>
            <a:r>
              <a:rPr lang="zh-CN" altLang="en-US" sz="2800" dirty="0"/>
              <a:t>某个领域或一定范围内相关问题的集合。</a:t>
            </a:r>
            <a:endParaRPr lang="zh-CN" altLang="en-US" sz="2800" dirty="0">
              <a:solidFill>
                <a:srgbClr val="0000FF"/>
              </a:solidFill>
            </a:endParaRPr>
          </a:p>
          <a:p>
            <a:pPr>
              <a:lnSpc>
                <a:spcPct val="80000"/>
              </a:lnSpc>
            </a:pPr>
            <a:r>
              <a:rPr lang="zh-CN" altLang="en-US" sz="2800" dirty="0">
                <a:solidFill>
                  <a:srgbClr val="0000FF"/>
                </a:solidFill>
              </a:rPr>
              <a:t>类（</a:t>
            </a:r>
            <a:r>
              <a:rPr lang="en-US" altLang="zh-CN" sz="2800" dirty="0">
                <a:solidFill>
                  <a:srgbClr val="0000FF"/>
                </a:solidFill>
              </a:rPr>
              <a:t>class</a:t>
            </a:r>
            <a:r>
              <a:rPr lang="zh-CN" altLang="en-US" sz="2800" dirty="0">
                <a:solidFill>
                  <a:srgbClr val="0000FF"/>
                </a:solidFill>
              </a:rPr>
              <a:t>）：</a:t>
            </a:r>
            <a:r>
              <a:rPr lang="zh-CN" altLang="en-US" sz="2800" dirty="0"/>
              <a:t>定义同一类型的所有对象的属性和方法的蓝图或原型，是创建对象的模板。类的构成：</a:t>
            </a:r>
          </a:p>
          <a:p>
            <a:pPr lvl="1">
              <a:lnSpc>
                <a:spcPct val="80000"/>
              </a:lnSpc>
            </a:pPr>
            <a:r>
              <a:rPr lang="zh-CN" altLang="en-US" sz="2400" dirty="0">
                <a:solidFill>
                  <a:schemeClr val="accent1"/>
                </a:solidFill>
              </a:rPr>
              <a:t>成员变量：属性；</a:t>
            </a:r>
          </a:p>
          <a:p>
            <a:pPr lvl="1">
              <a:lnSpc>
                <a:spcPct val="80000"/>
              </a:lnSpc>
            </a:pPr>
            <a:r>
              <a:rPr lang="zh-CN" altLang="en-US" sz="2400" dirty="0">
                <a:solidFill>
                  <a:schemeClr val="accent1"/>
                </a:solidFill>
              </a:rPr>
              <a:t>成员函数：作用在属性上的方法；</a:t>
            </a:r>
          </a:p>
          <a:p>
            <a:pPr lvl="1">
              <a:lnSpc>
                <a:spcPct val="80000"/>
              </a:lnSpc>
            </a:pPr>
            <a:r>
              <a:rPr lang="zh-CN" altLang="en-US" sz="2400" dirty="0">
                <a:solidFill>
                  <a:schemeClr val="accent1"/>
                </a:solidFill>
              </a:rPr>
              <a:t>接口：类的实例对象外界通信的公有方法；</a:t>
            </a:r>
          </a:p>
          <a:p>
            <a:pPr>
              <a:lnSpc>
                <a:spcPct val="80000"/>
              </a:lnSpc>
            </a:pPr>
            <a:r>
              <a:rPr lang="zh-CN" altLang="en-US" sz="2800" dirty="0">
                <a:solidFill>
                  <a:srgbClr val="0000FF"/>
                </a:solidFill>
              </a:rPr>
              <a:t>对象（</a:t>
            </a:r>
            <a:r>
              <a:rPr lang="en-US" altLang="zh-CN" sz="2800" dirty="0">
                <a:solidFill>
                  <a:srgbClr val="0000FF"/>
                </a:solidFill>
              </a:rPr>
              <a:t>object /instance</a:t>
            </a:r>
            <a:r>
              <a:rPr lang="zh-CN" altLang="en-US" sz="2800" dirty="0">
                <a:solidFill>
                  <a:srgbClr val="0000FF"/>
                </a:solidFill>
              </a:rPr>
              <a:t>）：</a:t>
            </a:r>
            <a:r>
              <a:rPr lang="zh-CN" altLang="en-US" sz="2800" dirty="0"/>
              <a:t>属于某个类的封装了数据和作用在这些数据上的若干操作的运行实体。</a:t>
            </a:r>
          </a:p>
          <a:p>
            <a:pPr>
              <a:lnSpc>
                <a:spcPct val="80000"/>
              </a:lnSpc>
            </a:pPr>
            <a:r>
              <a:rPr lang="zh-CN" altLang="en-US" sz="2800" dirty="0">
                <a:solidFill>
                  <a:srgbClr val="0000FF"/>
                </a:solidFill>
              </a:rPr>
              <a:t>消息（</a:t>
            </a:r>
            <a:r>
              <a:rPr lang="en-US" altLang="zh-CN" sz="2800" dirty="0">
                <a:solidFill>
                  <a:srgbClr val="0000FF"/>
                </a:solidFill>
              </a:rPr>
              <a:t>message</a:t>
            </a:r>
            <a:r>
              <a:rPr lang="zh-CN" altLang="en-US" sz="2800" dirty="0">
                <a:solidFill>
                  <a:srgbClr val="0000FF"/>
                </a:solidFill>
              </a:rPr>
              <a:t>）：</a:t>
            </a:r>
            <a:r>
              <a:rPr lang="zh-CN" altLang="en-US" sz="2800" dirty="0"/>
              <a:t>当对象</a:t>
            </a:r>
            <a:r>
              <a:rPr lang="en-US" altLang="zh-CN" sz="2800" dirty="0"/>
              <a:t>A</a:t>
            </a:r>
            <a:r>
              <a:rPr lang="zh-CN" altLang="en-US" sz="2800" dirty="0"/>
              <a:t>的一个方法中调用了对象</a:t>
            </a:r>
            <a:r>
              <a:rPr lang="en-US" altLang="zh-CN" sz="2800" dirty="0"/>
              <a:t>B</a:t>
            </a:r>
            <a:r>
              <a:rPr lang="zh-CN" altLang="en-US" sz="2800" dirty="0"/>
              <a:t>的方法，称</a:t>
            </a:r>
            <a:r>
              <a:rPr lang="en-US" altLang="zh-CN" sz="2800" dirty="0"/>
              <a:t>A</a:t>
            </a:r>
            <a:r>
              <a:rPr lang="zh-CN" altLang="en-US" sz="2800" dirty="0"/>
              <a:t>向</a:t>
            </a:r>
            <a:r>
              <a:rPr lang="en-US" altLang="zh-CN" sz="2800" dirty="0"/>
              <a:t>B</a:t>
            </a:r>
            <a:r>
              <a:rPr lang="zh-CN" altLang="en-US" sz="2800" dirty="0"/>
              <a:t>发送了消息，并由接受消息的对象触发完成指定的动作，然后返回。</a:t>
            </a:r>
          </a:p>
          <a:p>
            <a:pPr>
              <a:lnSpc>
                <a:spcPct val="80000"/>
              </a:lnSpc>
            </a:pPr>
            <a:endParaRPr lang="en-US" altLang="zh-CN" sz="28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a:t>1.1 </a:t>
            </a:r>
            <a:r>
              <a:rPr lang="zh-CN" altLang="en-US"/>
              <a:t>面向对象的基本概念</a:t>
            </a:r>
            <a:r>
              <a:rPr lang="en-US" altLang="zh-CN">
                <a:latin typeface="楷体_GB2312" pitchFamily="49" charset="-122"/>
              </a:rPr>
              <a:t>(2)</a:t>
            </a:r>
          </a:p>
        </p:txBody>
      </p:sp>
      <p:sp>
        <p:nvSpPr>
          <p:cNvPr id="14339" name="Rectangle 3"/>
          <p:cNvSpPr>
            <a:spLocks noGrp="1" noChangeArrowheads="1"/>
          </p:cNvSpPr>
          <p:nvPr>
            <p:ph type="body" idx="1"/>
          </p:nvPr>
        </p:nvSpPr>
        <p:spPr/>
        <p:txBody>
          <a:bodyPr/>
          <a:lstStyle/>
          <a:p>
            <a:pPr>
              <a:lnSpc>
                <a:spcPct val="90000"/>
              </a:lnSpc>
            </a:pPr>
            <a:r>
              <a:rPr lang="zh-CN" altLang="en-US" sz="2800">
                <a:solidFill>
                  <a:srgbClr val="0000FF"/>
                </a:solidFill>
              </a:rPr>
              <a:t>抽象（</a:t>
            </a:r>
            <a:r>
              <a:rPr lang="en-US" altLang="zh-CN" sz="2800">
                <a:solidFill>
                  <a:srgbClr val="0000FF"/>
                </a:solidFill>
              </a:rPr>
              <a:t>abstraction</a:t>
            </a:r>
            <a:r>
              <a:rPr lang="zh-CN" altLang="en-US" sz="2800">
                <a:solidFill>
                  <a:srgbClr val="0000FF"/>
                </a:solidFill>
              </a:rPr>
              <a:t>）：</a:t>
            </a:r>
            <a:r>
              <a:rPr lang="zh-CN" altLang="en-US" sz="2800"/>
              <a:t>按照比真实情况更简单、浓缩的方式定义或描述一个对象（或系统），强调与问题有关的属性而忽略与问题无关、过度复杂的属性。</a:t>
            </a:r>
            <a:endParaRPr lang="zh-CN" altLang="en-US" sz="2800">
              <a:solidFill>
                <a:srgbClr val="0000FF"/>
              </a:solidFill>
            </a:endParaRPr>
          </a:p>
          <a:p>
            <a:pPr>
              <a:lnSpc>
                <a:spcPct val="90000"/>
              </a:lnSpc>
            </a:pPr>
            <a:r>
              <a:rPr lang="zh-CN" altLang="en-US" sz="2800">
                <a:solidFill>
                  <a:srgbClr val="0000FF"/>
                </a:solidFill>
              </a:rPr>
              <a:t>封装（</a:t>
            </a:r>
            <a:r>
              <a:rPr lang="en-US" altLang="zh-CN" sz="2800">
                <a:solidFill>
                  <a:srgbClr val="0000FF"/>
                </a:solidFill>
              </a:rPr>
              <a:t>encapsulation</a:t>
            </a:r>
            <a:r>
              <a:rPr lang="zh-CN" altLang="en-US" sz="2800">
                <a:solidFill>
                  <a:srgbClr val="0000FF"/>
                </a:solidFill>
              </a:rPr>
              <a:t>）：</a:t>
            </a:r>
            <a:r>
              <a:rPr lang="zh-CN" altLang="en-US" sz="2800"/>
              <a:t>将数据和作用与数据的方法（或操作）组合成单个实体的过程。封装是一种相对于其它对象而隐藏内部数据和方法的机制。封装的优点有：</a:t>
            </a:r>
          </a:p>
          <a:p>
            <a:pPr lvl="1">
              <a:lnSpc>
                <a:spcPct val="90000"/>
              </a:lnSpc>
            </a:pPr>
            <a:r>
              <a:rPr lang="zh-CN" altLang="en-US" sz="2400">
                <a:solidFill>
                  <a:schemeClr val="accent1"/>
                </a:solidFill>
              </a:rPr>
              <a:t>提供了抽象层；</a:t>
            </a:r>
          </a:p>
          <a:p>
            <a:pPr lvl="1">
              <a:lnSpc>
                <a:spcPct val="90000"/>
              </a:lnSpc>
            </a:pPr>
            <a:r>
              <a:rPr lang="zh-CN" altLang="en-US" sz="2400">
                <a:solidFill>
                  <a:schemeClr val="accent1"/>
                </a:solidFill>
              </a:rPr>
              <a:t>分离了对象的用户接口与其功能；</a:t>
            </a:r>
          </a:p>
          <a:p>
            <a:pPr lvl="1">
              <a:lnSpc>
                <a:spcPct val="90000"/>
              </a:lnSpc>
            </a:pPr>
            <a:r>
              <a:rPr lang="zh-CN" altLang="en-US" sz="2400">
                <a:solidFill>
                  <a:schemeClr val="accent1"/>
                </a:solidFill>
              </a:rPr>
              <a:t>用保护包装器来维护对象的信息隐藏；</a:t>
            </a:r>
            <a:endParaRPr lang="zh-CN" altLang="en-US" sz="240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a:t>1.1 </a:t>
            </a:r>
            <a:r>
              <a:rPr lang="zh-CN" altLang="en-US"/>
              <a:t>面向对象的基本概念</a:t>
            </a:r>
            <a:r>
              <a:rPr lang="en-US" altLang="zh-CN">
                <a:latin typeface="楷体_GB2312" pitchFamily="49" charset="-122"/>
              </a:rPr>
              <a:t>(3)</a:t>
            </a:r>
          </a:p>
        </p:txBody>
      </p:sp>
      <p:sp>
        <p:nvSpPr>
          <p:cNvPr id="15363" name="Rectangle 3"/>
          <p:cNvSpPr>
            <a:spLocks noGrp="1" noChangeArrowheads="1"/>
          </p:cNvSpPr>
          <p:nvPr>
            <p:ph type="body" idx="1"/>
          </p:nvPr>
        </p:nvSpPr>
        <p:spPr/>
        <p:txBody>
          <a:bodyPr>
            <a:normAutofit lnSpcReduction="10000"/>
          </a:bodyPr>
          <a:lstStyle/>
          <a:p>
            <a:pPr>
              <a:lnSpc>
                <a:spcPct val="90000"/>
              </a:lnSpc>
            </a:pPr>
            <a:r>
              <a:rPr lang="zh-CN" altLang="en-US">
                <a:solidFill>
                  <a:srgbClr val="0000FF"/>
                </a:solidFill>
              </a:rPr>
              <a:t>继承（</a:t>
            </a:r>
            <a:r>
              <a:rPr lang="en-US" altLang="en-US">
                <a:solidFill>
                  <a:srgbClr val="0000FF"/>
                </a:solidFill>
              </a:rPr>
              <a:t>inheritance</a:t>
            </a:r>
            <a:r>
              <a:rPr lang="zh-CN" altLang="en-US">
                <a:solidFill>
                  <a:srgbClr val="0000FF"/>
                </a:solidFill>
              </a:rPr>
              <a:t>）：</a:t>
            </a:r>
            <a:r>
              <a:rPr lang="zh-CN" altLang="en-US"/>
              <a:t>是类之间具有某种相似的关系，表示一个类可以从另一个类中获得相应的属性和方法。具有继承关系的类的特征：</a:t>
            </a:r>
          </a:p>
          <a:p>
            <a:pPr lvl="1">
              <a:lnSpc>
                <a:spcPct val="90000"/>
              </a:lnSpc>
            </a:pPr>
            <a:r>
              <a:rPr lang="zh-CN" altLang="en-US">
                <a:solidFill>
                  <a:schemeClr val="accent1"/>
                </a:solidFill>
              </a:rPr>
              <a:t>类之间具有共享的数据和方法；</a:t>
            </a:r>
          </a:p>
          <a:p>
            <a:pPr lvl="1">
              <a:lnSpc>
                <a:spcPct val="90000"/>
              </a:lnSpc>
            </a:pPr>
            <a:r>
              <a:rPr lang="zh-CN" altLang="en-US">
                <a:solidFill>
                  <a:schemeClr val="accent1"/>
                </a:solidFill>
              </a:rPr>
              <a:t>类之间有差别；</a:t>
            </a:r>
          </a:p>
          <a:p>
            <a:pPr lvl="1">
              <a:lnSpc>
                <a:spcPct val="90000"/>
              </a:lnSpc>
            </a:pPr>
            <a:r>
              <a:rPr lang="zh-CN" altLang="en-US">
                <a:solidFill>
                  <a:schemeClr val="accent1"/>
                </a:solidFill>
              </a:rPr>
              <a:t>类之间有层次结构；</a:t>
            </a:r>
          </a:p>
          <a:p>
            <a:pPr>
              <a:lnSpc>
                <a:spcPct val="90000"/>
              </a:lnSpc>
            </a:pPr>
            <a:r>
              <a:rPr lang="zh-CN" altLang="en-US">
                <a:solidFill>
                  <a:srgbClr val="0000FF"/>
                </a:solidFill>
              </a:rPr>
              <a:t>多态（</a:t>
            </a:r>
            <a:r>
              <a:rPr lang="en-US" altLang="zh-CN">
                <a:solidFill>
                  <a:srgbClr val="0000FF"/>
                </a:solidFill>
              </a:rPr>
              <a:t>polimorphism</a:t>
            </a:r>
            <a:r>
              <a:rPr lang="zh-CN" altLang="en-US">
                <a:solidFill>
                  <a:srgbClr val="0000FF"/>
                </a:solidFill>
              </a:rPr>
              <a:t>）：</a:t>
            </a:r>
            <a:r>
              <a:rPr lang="zh-CN" altLang="en-US"/>
              <a:t>对于同一个消息，可以根据发送消息的对象不同而采用不同的行为方式。</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dirty="0"/>
              <a:t>1.2 </a:t>
            </a:r>
            <a:r>
              <a:rPr lang="zh-CN" altLang="en-US" dirty="0"/>
              <a:t>对象之间的</a:t>
            </a:r>
            <a:r>
              <a:rPr lang="zh-CN" altLang="en-US" dirty="0" smtClean="0"/>
              <a:t>关系</a:t>
            </a:r>
            <a:endParaRPr lang="zh-CN" altLang="en-US" dirty="0"/>
          </a:p>
        </p:txBody>
      </p:sp>
      <p:sp>
        <p:nvSpPr>
          <p:cNvPr id="16387" name="Rectangle 3"/>
          <p:cNvSpPr>
            <a:spLocks noGrp="1" noChangeArrowheads="1"/>
          </p:cNvSpPr>
          <p:nvPr>
            <p:ph type="body" idx="1"/>
          </p:nvPr>
        </p:nvSpPr>
        <p:spPr/>
        <p:txBody>
          <a:bodyPr/>
          <a:lstStyle/>
          <a:p>
            <a:pPr>
              <a:buFont typeface="Wingdings" pitchFamily="2" charset="2"/>
              <a:buNone/>
            </a:pPr>
            <a:r>
              <a:rPr lang="en-US" altLang="zh-CN" dirty="0"/>
              <a:t>  </a:t>
            </a:r>
            <a:r>
              <a:rPr lang="zh-CN" altLang="en-US" dirty="0"/>
              <a:t>世界有相互作用、相互影响的对象组成。按照对象之间存在的服务与被服务的关系，可以把对象分类两类：</a:t>
            </a:r>
            <a:r>
              <a:rPr lang="zh-CN" altLang="en-US" dirty="0">
                <a:solidFill>
                  <a:srgbClr val="0000FF"/>
                </a:solidFill>
              </a:rPr>
              <a:t>客户机</a:t>
            </a:r>
            <a:r>
              <a:rPr lang="zh-CN" altLang="en-US" dirty="0"/>
              <a:t>与</a:t>
            </a:r>
            <a:r>
              <a:rPr lang="zh-CN" altLang="en-US" dirty="0">
                <a:solidFill>
                  <a:srgbClr val="0000FF"/>
                </a:solidFill>
              </a:rPr>
              <a:t>服务器</a:t>
            </a:r>
            <a:r>
              <a:rPr lang="zh-CN" altLang="en-US" dirty="0"/>
              <a:t>。</a:t>
            </a:r>
          </a:p>
          <a:p>
            <a:r>
              <a:rPr lang="zh-CN" altLang="en-US" dirty="0">
                <a:solidFill>
                  <a:srgbClr val="0000FF"/>
                </a:solidFill>
              </a:rPr>
              <a:t>服务器</a:t>
            </a:r>
            <a:r>
              <a:rPr lang="zh-CN" altLang="en-US" dirty="0"/>
              <a:t>：为其他对象提供服务的对象。</a:t>
            </a:r>
          </a:p>
          <a:p>
            <a:r>
              <a:rPr lang="zh-CN" altLang="en-US" dirty="0">
                <a:solidFill>
                  <a:srgbClr val="0000FF"/>
                </a:solidFill>
              </a:rPr>
              <a:t>客户机</a:t>
            </a:r>
            <a:r>
              <a:rPr lang="zh-CN" altLang="en-US" dirty="0"/>
              <a:t>：使用这些服务的对象。</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进制输入输出</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err="1" smtClean="0"/>
              <a:t>Cout</a:t>
            </a:r>
            <a:r>
              <a:rPr lang="en-US" altLang="zh-CN" dirty="0" smtClean="0"/>
              <a:t>&lt;&lt;hex&lt;&lt;</a:t>
            </a:r>
            <a:r>
              <a:rPr lang="en-US" altLang="zh-CN" dirty="0" err="1" smtClean="0"/>
              <a:t>dec</a:t>
            </a:r>
            <a:r>
              <a:rPr lang="en-US" altLang="zh-CN" dirty="0" smtClean="0"/>
              <a:t>&lt;&lt;</a:t>
            </a:r>
            <a:r>
              <a:rPr lang="en-US" altLang="zh-CN" dirty="0" err="1" smtClean="0"/>
              <a:t>oct</a:t>
            </a:r>
            <a:r>
              <a:rPr lang="en-US" altLang="zh-CN" dirty="0" smtClean="0"/>
              <a:t>;</a:t>
            </a:r>
          </a:p>
          <a:p>
            <a:r>
              <a:rPr lang="en-US" altLang="zh-CN" dirty="0" smtClean="0"/>
              <a:t>INT_MAX,SHRT_MAX,LONG_MAX;</a:t>
            </a:r>
          </a:p>
          <a:p>
            <a:r>
              <a:rPr lang="en-US" altLang="zh-CN" dirty="0" smtClean="0"/>
              <a:t>Example:</a:t>
            </a:r>
          </a:p>
          <a:p>
            <a:r>
              <a:rPr lang="en-US" altLang="zh-CN" dirty="0" smtClean="0">
                <a:solidFill>
                  <a:srgbClr val="0070C0"/>
                </a:solidFill>
              </a:rPr>
              <a:t>short a=32767;</a:t>
            </a:r>
          </a:p>
          <a:p>
            <a:r>
              <a:rPr lang="en-US" altLang="zh-CN" dirty="0" smtClean="0">
                <a:solidFill>
                  <a:srgbClr val="0070C0"/>
                </a:solidFill>
              </a:rPr>
              <a:t>short b = short(a+1);</a:t>
            </a:r>
          </a:p>
          <a:p>
            <a:r>
              <a:rPr lang="en-US" altLang="zh-CN" dirty="0" smtClean="0">
                <a:solidFill>
                  <a:srgbClr val="0070C0"/>
                </a:solidFill>
              </a:rPr>
              <a:t>short c = a+1;</a:t>
            </a:r>
          </a:p>
          <a:p>
            <a:r>
              <a:rPr lang="en-US" altLang="zh-CN" dirty="0" err="1" smtClean="0">
                <a:solidFill>
                  <a:srgbClr val="0070C0"/>
                </a:solidFill>
              </a:rPr>
              <a:t>cout</a:t>
            </a:r>
            <a:r>
              <a:rPr lang="en-US" altLang="zh-CN" dirty="0" smtClean="0">
                <a:solidFill>
                  <a:srgbClr val="0070C0"/>
                </a:solidFill>
              </a:rPr>
              <a:t>&lt;&lt;a+1&lt;&lt;</a:t>
            </a:r>
            <a:r>
              <a:rPr lang="en-US" altLang="zh-CN" dirty="0" err="1" smtClean="0">
                <a:solidFill>
                  <a:srgbClr val="0070C0"/>
                </a:solidFill>
              </a:rPr>
              <a:t>endl</a:t>
            </a:r>
            <a:r>
              <a:rPr lang="en-US" altLang="zh-CN" dirty="0" smtClean="0">
                <a:solidFill>
                  <a:srgbClr val="0070C0"/>
                </a:solidFill>
              </a:rPr>
              <a:t>;</a:t>
            </a:r>
          </a:p>
          <a:p>
            <a:r>
              <a:rPr lang="en-US" altLang="zh-CN" dirty="0" err="1" smtClean="0">
                <a:solidFill>
                  <a:srgbClr val="0070C0"/>
                </a:solidFill>
              </a:rPr>
              <a:t>cout</a:t>
            </a:r>
            <a:r>
              <a:rPr lang="en-US" altLang="zh-CN" dirty="0" smtClean="0">
                <a:solidFill>
                  <a:srgbClr val="0070C0"/>
                </a:solidFill>
              </a:rPr>
              <a:t>&lt;&lt;c&lt;&lt;" "&lt;&lt;a+1&lt;&lt;" "&lt;&lt;b&lt;&lt;</a:t>
            </a:r>
            <a:r>
              <a:rPr lang="en-US" altLang="zh-CN" dirty="0" err="1" smtClean="0">
                <a:solidFill>
                  <a:srgbClr val="0070C0"/>
                </a:solidFill>
              </a:rPr>
              <a:t>endl</a:t>
            </a:r>
            <a:r>
              <a:rPr lang="en-US" altLang="zh-CN" dirty="0" smtClean="0">
                <a:solidFill>
                  <a:srgbClr val="0070C0"/>
                </a:solidFill>
              </a:rPr>
              <a:t>;</a:t>
            </a: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随机数问题</a:t>
            </a:r>
            <a:endParaRPr lang="zh-CN" altLang="en-US" dirty="0"/>
          </a:p>
        </p:txBody>
      </p:sp>
      <p:sp>
        <p:nvSpPr>
          <p:cNvPr id="3" name="内容占位符 2"/>
          <p:cNvSpPr>
            <a:spLocks noGrp="1"/>
          </p:cNvSpPr>
          <p:nvPr>
            <p:ph idx="1"/>
          </p:nvPr>
        </p:nvSpPr>
        <p:spPr/>
        <p:txBody>
          <a:bodyPr>
            <a:normAutofit fontScale="92500"/>
          </a:bodyPr>
          <a:lstStyle/>
          <a:p>
            <a:r>
              <a:rPr lang="en-US" altLang="zh-CN" dirty="0" err="1" smtClean="0"/>
              <a:t>Srand</a:t>
            </a:r>
            <a:r>
              <a:rPr lang="en-US" altLang="zh-CN" dirty="0" smtClean="0"/>
              <a:t>()</a:t>
            </a:r>
            <a:r>
              <a:rPr lang="zh-CN" altLang="en-US" dirty="0" smtClean="0"/>
              <a:t>和</a:t>
            </a:r>
            <a:r>
              <a:rPr lang="en-US" altLang="zh-CN" dirty="0" smtClean="0"/>
              <a:t>rand()</a:t>
            </a:r>
            <a:r>
              <a:rPr lang="zh-CN" altLang="en-US" dirty="0" smtClean="0"/>
              <a:t>用法；</a:t>
            </a:r>
            <a:endParaRPr lang="en-US" altLang="zh-CN" dirty="0" smtClean="0"/>
          </a:p>
          <a:p>
            <a:r>
              <a:rPr lang="en-US" altLang="zh-CN" dirty="0" smtClean="0"/>
              <a:t>Ex:</a:t>
            </a:r>
          </a:p>
          <a:p>
            <a:r>
              <a:rPr lang="en-US" altLang="zh-CN" dirty="0" smtClean="0">
                <a:solidFill>
                  <a:srgbClr val="0070C0"/>
                </a:solidFill>
              </a:rPr>
              <a:t> </a:t>
            </a:r>
            <a:r>
              <a:rPr lang="en-US" altLang="zh-CN" dirty="0" err="1" smtClean="0">
                <a:solidFill>
                  <a:srgbClr val="0070C0"/>
                </a:solidFill>
              </a:rPr>
              <a:t>printf</a:t>
            </a:r>
            <a:r>
              <a:rPr lang="en-US" altLang="zh-CN" dirty="0" smtClean="0">
                <a:solidFill>
                  <a:srgbClr val="0070C0"/>
                </a:solidFill>
              </a:rPr>
              <a:t> ("First number: %d\n", rand() % 100);</a:t>
            </a:r>
          </a:p>
          <a:p>
            <a:r>
              <a:rPr lang="en-US" altLang="zh-CN" dirty="0" smtClean="0">
                <a:solidFill>
                  <a:srgbClr val="0070C0"/>
                </a:solidFill>
              </a:rPr>
              <a:t>  </a:t>
            </a:r>
            <a:r>
              <a:rPr lang="en-US" altLang="zh-CN" dirty="0" err="1" smtClean="0">
                <a:solidFill>
                  <a:srgbClr val="0070C0"/>
                </a:solidFill>
              </a:rPr>
              <a:t>srand</a:t>
            </a:r>
            <a:r>
              <a:rPr lang="en-US" altLang="zh-CN" dirty="0" smtClean="0">
                <a:solidFill>
                  <a:srgbClr val="0070C0"/>
                </a:solidFill>
              </a:rPr>
              <a:t> ( time(NULL) );</a:t>
            </a:r>
          </a:p>
          <a:p>
            <a:r>
              <a:rPr lang="en-US" altLang="zh-CN" dirty="0" smtClean="0">
                <a:solidFill>
                  <a:srgbClr val="0070C0"/>
                </a:solidFill>
              </a:rPr>
              <a:t>  </a:t>
            </a:r>
            <a:r>
              <a:rPr lang="en-US" altLang="zh-CN" dirty="0" err="1" smtClean="0">
                <a:solidFill>
                  <a:srgbClr val="0070C0"/>
                </a:solidFill>
              </a:rPr>
              <a:t>printf</a:t>
            </a:r>
            <a:r>
              <a:rPr lang="en-US" altLang="zh-CN" dirty="0" smtClean="0">
                <a:solidFill>
                  <a:srgbClr val="0070C0"/>
                </a:solidFill>
              </a:rPr>
              <a:t> ("Random number: %d\n", rand() % 100);</a:t>
            </a:r>
          </a:p>
          <a:p>
            <a:r>
              <a:rPr lang="en-US" altLang="zh-CN" dirty="0" smtClean="0">
                <a:solidFill>
                  <a:srgbClr val="0070C0"/>
                </a:solidFill>
              </a:rPr>
              <a:t>  </a:t>
            </a:r>
            <a:r>
              <a:rPr lang="en-US" altLang="zh-CN" dirty="0" err="1" smtClean="0">
                <a:solidFill>
                  <a:srgbClr val="0070C0"/>
                </a:solidFill>
              </a:rPr>
              <a:t>srand</a:t>
            </a:r>
            <a:r>
              <a:rPr lang="en-US" altLang="zh-CN" dirty="0" smtClean="0">
                <a:solidFill>
                  <a:srgbClr val="0070C0"/>
                </a:solidFill>
              </a:rPr>
              <a:t> ( 1 );</a:t>
            </a:r>
          </a:p>
          <a:p>
            <a:r>
              <a:rPr lang="en-US" altLang="zh-CN" dirty="0" smtClean="0">
                <a:solidFill>
                  <a:srgbClr val="0070C0"/>
                </a:solidFill>
              </a:rPr>
              <a:t>  </a:t>
            </a:r>
            <a:r>
              <a:rPr lang="en-US" altLang="zh-CN" dirty="0" err="1" smtClean="0">
                <a:solidFill>
                  <a:srgbClr val="0070C0"/>
                </a:solidFill>
              </a:rPr>
              <a:t>printf</a:t>
            </a:r>
            <a:r>
              <a:rPr lang="en-US" altLang="zh-CN" dirty="0" smtClean="0">
                <a:solidFill>
                  <a:srgbClr val="0070C0"/>
                </a:solidFill>
              </a:rPr>
              <a:t> ("Again the first number: %d\n", rand() %100);</a:t>
            </a:r>
            <a:endParaRPr lang="zh-CN" altLang="en-US" dirty="0">
              <a:solidFill>
                <a:srgbClr val="0070C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获得当前时间</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dirty="0" err="1" smtClean="0"/>
              <a:t>Time.h</a:t>
            </a:r>
            <a:r>
              <a:rPr lang="en-US" altLang="zh-CN" dirty="0" smtClean="0"/>
              <a:t>, </a:t>
            </a:r>
            <a:r>
              <a:rPr lang="en-US" altLang="zh-CN" dirty="0" err="1" smtClean="0"/>
              <a:t>localtime</a:t>
            </a:r>
            <a:r>
              <a:rPr lang="en-US" altLang="zh-CN" dirty="0" smtClean="0"/>
              <a:t>()</a:t>
            </a:r>
            <a:r>
              <a:rPr lang="zh-CN" altLang="en-US" dirty="0" smtClean="0"/>
              <a:t>用法</a:t>
            </a:r>
            <a:endParaRPr lang="en-US" altLang="zh-CN" dirty="0" smtClean="0"/>
          </a:p>
          <a:p>
            <a:r>
              <a:rPr lang="en-US" altLang="zh-CN" dirty="0" smtClean="0">
                <a:solidFill>
                  <a:srgbClr val="0070C0"/>
                </a:solidFill>
              </a:rPr>
              <a:t> </a:t>
            </a:r>
            <a:r>
              <a:rPr lang="en-US" altLang="zh-CN" dirty="0" err="1" smtClean="0">
                <a:solidFill>
                  <a:srgbClr val="0070C0"/>
                </a:solidFill>
              </a:rPr>
              <a:t>time_t</a:t>
            </a:r>
            <a:r>
              <a:rPr lang="en-US" altLang="zh-CN" dirty="0" smtClean="0">
                <a:solidFill>
                  <a:srgbClr val="0070C0"/>
                </a:solidFill>
              </a:rPr>
              <a:t> </a:t>
            </a:r>
            <a:r>
              <a:rPr lang="en-US" altLang="zh-CN" dirty="0" err="1" smtClean="0">
                <a:solidFill>
                  <a:srgbClr val="0070C0"/>
                </a:solidFill>
              </a:rPr>
              <a:t>tt</a:t>
            </a:r>
            <a:r>
              <a:rPr lang="en-US" altLang="zh-CN" dirty="0" smtClean="0">
                <a:solidFill>
                  <a:srgbClr val="0070C0"/>
                </a:solidFill>
              </a:rPr>
              <a:t> = time(NULL);</a:t>
            </a:r>
          </a:p>
          <a:p>
            <a:r>
              <a:rPr lang="en-US" altLang="zh-CN" dirty="0" smtClean="0">
                <a:solidFill>
                  <a:srgbClr val="0070C0"/>
                </a:solidFill>
              </a:rPr>
              <a:t>  tm* t= </a:t>
            </a:r>
            <a:r>
              <a:rPr lang="en-US" altLang="zh-CN" dirty="0" err="1" smtClean="0">
                <a:solidFill>
                  <a:srgbClr val="0070C0"/>
                </a:solidFill>
              </a:rPr>
              <a:t>localtime</a:t>
            </a:r>
            <a:r>
              <a:rPr lang="en-US" altLang="zh-CN" dirty="0" smtClean="0">
                <a:solidFill>
                  <a:srgbClr val="0070C0"/>
                </a:solidFill>
              </a:rPr>
              <a:t>(&amp;</a:t>
            </a:r>
            <a:r>
              <a:rPr lang="en-US" altLang="zh-CN" dirty="0" err="1" smtClean="0">
                <a:solidFill>
                  <a:srgbClr val="0070C0"/>
                </a:solidFill>
              </a:rPr>
              <a:t>tt</a:t>
            </a:r>
            <a:r>
              <a:rPr lang="en-US" altLang="zh-CN" dirty="0" smtClean="0">
                <a:solidFill>
                  <a:srgbClr val="0070C0"/>
                </a:solidFill>
              </a:rPr>
              <a:t>);</a:t>
            </a:r>
          </a:p>
          <a:p>
            <a:r>
              <a:rPr lang="pt-BR" altLang="zh-CN" dirty="0" smtClean="0">
                <a:solidFill>
                  <a:srgbClr val="0070C0"/>
                </a:solidFill>
              </a:rPr>
              <a:t>  printf("%d-%02d-%02d %02d:%02d:%02d\n", </a:t>
            </a:r>
          </a:p>
          <a:p>
            <a:r>
              <a:rPr lang="en-US" altLang="zh-CN" dirty="0" smtClean="0">
                <a:solidFill>
                  <a:srgbClr val="0070C0"/>
                </a:solidFill>
              </a:rPr>
              <a:t>  t-&gt;</a:t>
            </a:r>
            <a:r>
              <a:rPr lang="en-US" altLang="zh-CN" dirty="0" err="1" smtClean="0">
                <a:solidFill>
                  <a:srgbClr val="0070C0"/>
                </a:solidFill>
              </a:rPr>
              <a:t>tm_year</a:t>
            </a:r>
            <a:r>
              <a:rPr lang="en-US" altLang="zh-CN" dirty="0" smtClean="0">
                <a:solidFill>
                  <a:srgbClr val="0070C0"/>
                </a:solidFill>
              </a:rPr>
              <a:t> + 1900,</a:t>
            </a:r>
          </a:p>
          <a:p>
            <a:r>
              <a:rPr lang="en-US" altLang="zh-CN" dirty="0" smtClean="0">
                <a:solidFill>
                  <a:srgbClr val="0070C0"/>
                </a:solidFill>
              </a:rPr>
              <a:t>  t-&gt;</a:t>
            </a:r>
            <a:r>
              <a:rPr lang="en-US" altLang="zh-CN" dirty="0" err="1" smtClean="0">
                <a:solidFill>
                  <a:srgbClr val="0070C0"/>
                </a:solidFill>
              </a:rPr>
              <a:t>tm_mon</a:t>
            </a:r>
            <a:r>
              <a:rPr lang="en-US" altLang="zh-CN" dirty="0" smtClean="0">
                <a:solidFill>
                  <a:srgbClr val="0070C0"/>
                </a:solidFill>
              </a:rPr>
              <a:t> + 1,</a:t>
            </a:r>
          </a:p>
          <a:p>
            <a:r>
              <a:rPr lang="en-US" altLang="zh-CN" dirty="0" smtClean="0">
                <a:solidFill>
                  <a:srgbClr val="0070C0"/>
                </a:solidFill>
              </a:rPr>
              <a:t>  t-&gt;</a:t>
            </a:r>
            <a:r>
              <a:rPr lang="en-US" altLang="zh-CN" dirty="0" err="1" smtClean="0">
                <a:solidFill>
                  <a:srgbClr val="0070C0"/>
                </a:solidFill>
              </a:rPr>
              <a:t>tm_mday</a:t>
            </a:r>
            <a:r>
              <a:rPr lang="en-US" altLang="zh-CN" dirty="0" smtClean="0">
                <a:solidFill>
                  <a:srgbClr val="0070C0"/>
                </a:solidFill>
              </a:rPr>
              <a:t>,</a:t>
            </a:r>
          </a:p>
          <a:p>
            <a:r>
              <a:rPr lang="en-US" altLang="zh-CN" dirty="0" smtClean="0">
                <a:solidFill>
                  <a:srgbClr val="0070C0"/>
                </a:solidFill>
              </a:rPr>
              <a:t>  t-&gt;</a:t>
            </a:r>
            <a:r>
              <a:rPr lang="en-US" altLang="zh-CN" dirty="0" err="1" smtClean="0">
                <a:solidFill>
                  <a:srgbClr val="0070C0"/>
                </a:solidFill>
              </a:rPr>
              <a:t>tm_hour</a:t>
            </a:r>
            <a:r>
              <a:rPr lang="en-US" altLang="zh-CN" dirty="0" smtClean="0">
                <a:solidFill>
                  <a:srgbClr val="0070C0"/>
                </a:solidFill>
              </a:rPr>
              <a:t>,</a:t>
            </a:r>
          </a:p>
          <a:p>
            <a:r>
              <a:rPr lang="en-US" altLang="zh-CN" dirty="0" smtClean="0">
                <a:solidFill>
                  <a:srgbClr val="0070C0"/>
                </a:solidFill>
              </a:rPr>
              <a:t>  t-&gt;</a:t>
            </a:r>
            <a:r>
              <a:rPr lang="en-US" altLang="zh-CN" dirty="0" err="1" smtClean="0">
                <a:solidFill>
                  <a:srgbClr val="0070C0"/>
                </a:solidFill>
              </a:rPr>
              <a:t>tm_min</a:t>
            </a:r>
            <a:r>
              <a:rPr lang="en-US" altLang="zh-CN" dirty="0" smtClean="0">
                <a:solidFill>
                  <a:srgbClr val="0070C0"/>
                </a:solidFill>
              </a:rPr>
              <a:t>,</a:t>
            </a:r>
          </a:p>
          <a:p>
            <a:r>
              <a:rPr lang="en-US" altLang="zh-CN" dirty="0" smtClean="0">
                <a:solidFill>
                  <a:srgbClr val="0070C0"/>
                </a:solidFill>
              </a:rPr>
              <a:t>  t-&gt;</a:t>
            </a:r>
            <a:r>
              <a:rPr lang="en-US" altLang="zh-CN" dirty="0" err="1" smtClean="0">
                <a:solidFill>
                  <a:srgbClr val="0070C0"/>
                </a:solidFill>
              </a:rPr>
              <a:t>tm_sec</a:t>
            </a:r>
            <a:r>
              <a:rPr lang="en-US" altLang="zh-CN" dirty="0" smtClean="0">
                <a:solidFill>
                  <a:srgbClr val="0070C0"/>
                </a:solidFill>
              </a:rPr>
              <a:t>);</a:t>
            </a:r>
            <a:endParaRPr lang="zh-CN" altLang="en-US" dirty="0">
              <a:solidFill>
                <a:srgbClr val="0070C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944</Words>
  <PresentationFormat>全屏显示(4:3)</PresentationFormat>
  <Paragraphs>87</Paragraphs>
  <Slides>14</Slides>
  <Notes>0</Notes>
  <HiddenSlides>0</HiddenSlides>
  <MMClips>0</MMClips>
  <ScaleCrop>false</ScaleCrop>
  <HeadingPairs>
    <vt:vector size="4" baseType="variant">
      <vt:variant>
        <vt:lpstr>主题</vt:lpstr>
      </vt:variant>
      <vt:variant>
        <vt:i4>1</vt:i4>
      </vt:variant>
      <vt:variant>
        <vt:lpstr>幻灯片标题</vt:lpstr>
      </vt:variant>
      <vt:variant>
        <vt:i4>14</vt:i4>
      </vt:variant>
    </vt:vector>
  </HeadingPairs>
  <TitlesOfParts>
    <vt:vector size="15" baseType="lpstr">
      <vt:lpstr>Office 主题</vt:lpstr>
      <vt:lpstr>第1讲 初识 Visual C++ 2010</vt:lpstr>
      <vt:lpstr>第1讲 初识 Visual C++ 2010</vt:lpstr>
      <vt:lpstr>Namespace解释</vt:lpstr>
      <vt:lpstr>Stdio与iostream区别</vt:lpstr>
      <vt:lpstr>iostream与iostream.h区别</vt:lpstr>
      <vt:lpstr>作业：C++中常见的文件格式</vt:lpstr>
      <vt:lpstr>CALLBACK</vt:lpstr>
      <vt:lpstr>1.1 面向对象的基本概念(1)</vt:lpstr>
      <vt:lpstr>1.1 面向对象的基本概念(2)</vt:lpstr>
      <vt:lpstr>1.1 面向对象的基本概念(3)</vt:lpstr>
      <vt:lpstr>1.2 对象之间的关系</vt:lpstr>
      <vt:lpstr>进制输入输出</vt:lpstr>
      <vt:lpstr>随机数问题</vt:lpstr>
      <vt:lpstr>获得当前时间</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第1讲 初识 Visual C++ 2010</dc:title>
  <dc:creator>yang</dc:creator>
  <cp:lastModifiedBy>xbyang</cp:lastModifiedBy>
  <cp:revision>35</cp:revision>
  <dcterms:created xsi:type="dcterms:W3CDTF">2014-10-18T15:04:25Z</dcterms:created>
  <dcterms:modified xsi:type="dcterms:W3CDTF">2018-09-03T04:03:33Z</dcterms:modified>
</cp:coreProperties>
</file>